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A2233"/>
                </a:solidFill>
                <a:latin typeface="Calibri"/>
              </a:defRPr>
            </a:pPr>
            <a:r>
              <a:t>Prédiction du churn client</a:t>
            </a:r>
          </a:p>
          <a:p>
            <a:pPr>
              <a:spcBef>
                <a:spcPts val="600"/>
              </a:spcBef>
              <a:defRPr sz="1900" b="0">
                <a:solidFill>
                  <a:srgbClr val="6B7385"/>
                </a:solidFill>
                <a:latin typeface="Calibri"/>
              </a:defRPr>
            </a:pPr>
            <a:r>
              <a:t>Système intelligent de rétention et d'évaluation du risque de revenus</a:t>
            </a:r>
          </a:p>
          <a:p>
            <a:pPr>
              <a:spcBef>
                <a:spcPts val="1800"/>
              </a:spcBef>
              <a:defRPr sz="1300" b="1">
                <a:solidFill>
                  <a:srgbClr val="4F46E5"/>
                </a:solidFill>
                <a:latin typeface="Calibri"/>
              </a:defRPr>
            </a:pPr>
            <a:r>
              <a:t>Sujet 2 · M1 Dev. Manager Full Stack · Data Science · EFREI 2025-26</a:t>
            </a:r>
          </a:p>
          <a:p>
            <a:pPr>
              <a:spcBef>
                <a:spcPts val="400"/>
              </a:spcBef>
              <a:defRPr sz="1300" b="0">
                <a:solidFill>
                  <a:srgbClr val="6B7385"/>
                </a:solidFill>
                <a:latin typeface="Calibri"/>
              </a:defRPr>
            </a:pPr>
            <a:r>
              <a:t>[Noms du groupe] · 26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CONTEXTE &amp; OBJECTIF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Le problème : la fuite des clients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Les entreprises par abonnement (SaaS, télécom…) perdent des clients chaque mois (churn).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Retenir un client coûte bien moins cher que d'en acquérir un nouveau.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Objectif : prédire le risque de départ, l'expliquer, et le rendre actionnable.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Utilisateur cible : responsable marketing / CRM.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DONNÉES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Un jeu de données fortement déséquilibré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customer_churn.csv — 10 000 clients, 30 variables (numériques + catégorielles).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Cible : churn (0 = reste / 1 = part).</a:t>
            </a:r>
          </a:p>
          <a:p>
            <a:pPr>
              <a:spcAft>
                <a:spcPts val="1000"/>
              </a:spcAft>
              <a:defRPr sz="1600" b="0">
                <a:solidFill>
                  <a:srgbClr val="E11D48"/>
                </a:solidFill>
                <a:latin typeface="Calibri"/>
              </a:defRPr>
            </a:pPr>
            <a:r>
              <a:t>    – Seulement 10,2 % de churners → ratio de déséquilibre 8,8:1.</a:t>
            </a:r>
          </a:p>
          <a:p>
            <a:pPr>
              <a:spcAft>
                <a:spcPts val="1000"/>
              </a:spcAft>
              <a:defRPr sz="1600" b="0">
                <a:solidFill>
                  <a:srgbClr val="1A2233"/>
                </a:solidFill>
                <a:latin typeface="Calibri"/>
              </a:defRPr>
            </a:pPr>
            <a:r>
              <a:t>    – L'accuracy est trompeuse → on privilégie Recall, F1 et PR-AUC.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Signal métier fort : ≥ 2 paiements ratés → churn de 21 à 33 % (vs 8,8 %).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MÉTHODOLOGIE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Une démarche rigoureuse, pas seulement un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Pipeline de préparation anti-fuite (appris sur le train uniquement).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Validation croisée stratifiée (5 plis) ; métrique de sélection : PR-AUC.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Gestion du déséquilibre : SMOTE, class_weight, et ajustement du seuil de décision.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4 modèles comparés, du plus simple au plus complexe :</a:t>
            </a:r>
          </a:p>
          <a:p>
            <a:pPr>
              <a:spcAft>
                <a:spcPts val="1000"/>
              </a:spcAft>
              <a:defRPr sz="1600" b="0">
                <a:solidFill>
                  <a:srgbClr val="1A2233"/>
                </a:solidFill>
                <a:latin typeface="Calibri"/>
              </a:defRPr>
            </a:pPr>
            <a:r>
              <a:t>    – Régression logistique → Random Forest → Gradient Boosting → MLP (Deep Learning).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Comparaison des modèles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Modèle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Random Forest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0,267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0,794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0,259</a:t>
                      </a:r>
                    </a:p>
                  </a:txBody>
                  <a:tcPr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0,789</a:t>
                      </a:r>
                    </a:p>
                  </a:txBody>
                  <a:tcPr>
                    <a:solidFill>
                      <a:srgbClr val="F2F3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Régression logistique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0,226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0,715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MLP (Deep Learning)</a:t>
                      </a:r>
                    </a:p>
                  </a:txBody>
                  <a:tcPr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0,167</a:t>
                      </a:r>
                    </a:p>
                  </a:txBody>
                  <a:tcPr>
                    <a:solidFill>
                      <a:srgbClr val="F2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2233"/>
                          </a:solidFill>
                          <a:latin typeface="Calibri"/>
                        </a:defRPr>
                      </a:pPr>
                      <a:r>
                        <a:t>0,631</a:t>
                      </a:r>
                    </a:p>
                  </a:txBody>
                  <a:tcPr>
                    <a:solidFill>
                      <a:srgbClr val="F2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8288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Calibri"/>
              </a:defRPr>
            </a:pPr>
            <a:r>
              <a:t>À retenir</a:t>
            </a:r>
          </a:p>
          <a:p>
            <a:pPr>
              <a:spcBef>
                <a:spcPts val="800"/>
              </a:spcBef>
              <a:defRPr sz="1500" b="1">
                <a:solidFill>
                  <a:srgbClr val="E11D48"/>
                </a:solidFill>
                <a:latin typeface="Calibri"/>
              </a:defRPr>
            </a:pPr>
            <a:r>
              <a:t>Le MLP (Deep Learning) est le moins performant.</a:t>
            </a:r>
          </a:p>
          <a:p>
            <a:pPr>
              <a:spcBef>
                <a:spcPts val="600"/>
              </a:spcBef>
              <a:defRPr sz="1300" b="0">
                <a:solidFill>
                  <a:srgbClr val="1A2233"/>
                </a:solidFill>
                <a:latin typeface="Calibri"/>
              </a:defRPr>
            </a:pPr>
            <a:r>
              <a:t>Sur des données tabulaires, les modèles à arbres surpassent le réseau de neurones — pour un coût bien moindre.</a:t>
            </a:r>
          </a:p>
          <a:p>
            <a:pPr>
              <a:spcBef>
                <a:spcPts val="600"/>
              </a:spcBef>
              <a:defRPr sz="1300" b="1">
                <a:solidFill>
                  <a:srgbClr val="6B7385"/>
                </a:solidFill>
                <a:latin typeface="Calibri"/>
              </a:defRPr>
            </a:pPr>
            <a:r>
              <a:t>→ Le Deep Learning n'est pas toujours supérieur.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Le piège du déséquilibre : le seuil de décision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11D48"/>
                </a:solidFill>
                <a:latin typeface="Calibri"/>
              </a:defRPr>
            </a:pPr>
            <a:r>
              <a:t>•  Au seuil par défaut 0,5 : recall = 0 — aucun churner détecté ! (malgré 90 % d'accuracy)</a:t>
            </a:r>
          </a:p>
          <a:p>
            <a:pPr>
              <a:spcAft>
                <a:spcPts val="1000"/>
              </a:spcAft>
              <a:defRPr sz="1800" b="1">
                <a:solidFill>
                  <a:srgbClr val="16A34A"/>
                </a:solidFill>
                <a:latin typeface="Calibri"/>
              </a:defRPr>
            </a:pPr>
            <a:r>
              <a:t>•  Au seuil optimisé 0,19 : recall = 78 %, F1 = 0,37.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Choix orienté métier : un faux négatif (client perdu) coûte plus cher</a:t>
            </a:r>
          </a:p>
          <a:p>
            <a:pPr>
              <a:spcAft>
                <a:spcPts val="1000"/>
              </a:spcAft>
              <a:defRPr sz="1600" b="0">
                <a:solidFill>
                  <a:srgbClr val="1A2233"/>
                </a:solidFill>
                <a:latin typeface="Calibri"/>
              </a:defRPr>
            </a:pPr>
            <a:r>
              <a:t>    – qu'un faux positif (une simple sollicitation marketing).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→ Régler le seuil est aussi déterminant que choisir le modèle.</a:t>
            </a:r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12064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INTERPRÉTABILITÉ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Pourquoi un client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Facteurs dominants identifiés par le modèle :</a:t>
            </a:r>
          </a:p>
          <a:p>
            <a:pPr>
              <a:spcAft>
                <a:spcPts val="1000"/>
              </a:spcAft>
              <a:defRPr sz="1600" b="0">
                <a:solidFill>
                  <a:srgbClr val="1A2233"/>
                </a:solidFill>
                <a:latin typeface="Calibri"/>
              </a:defRPr>
            </a:pPr>
            <a:r>
              <a:t>    – Satisfaction (CSAT) — facteur n°1, de loin.</a:t>
            </a:r>
          </a:p>
          <a:p>
            <a:pPr>
              <a:spcAft>
                <a:spcPts val="1000"/>
              </a:spcAft>
              <a:defRPr sz="1600" b="0">
                <a:solidFill>
                  <a:srgbClr val="1A2233"/>
                </a:solidFill>
                <a:latin typeface="Calibri"/>
              </a:defRPr>
            </a:pPr>
            <a:r>
              <a:t>    – Échecs de paiement — le risque triple dès 2 échecs.</a:t>
            </a:r>
          </a:p>
          <a:p>
            <a:pPr>
              <a:spcAft>
                <a:spcPts val="1000"/>
              </a:spcAft>
              <a:defRPr sz="1600" b="0">
                <a:solidFill>
                  <a:srgbClr val="1A2233"/>
                </a:solidFill>
                <a:latin typeface="Calibri"/>
              </a:defRPr>
            </a:pPr>
            <a:r>
              <a:t>    – Ancienneté et engagement (logins, usage).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SHAP explique chaque prédiction individuelle → décisions justifiables.</a:t>
            </a:r>
          </a:p>
        </p:txBody>
      </p:sp>
      <p:pic>
        <p:nvPicPr>
          <p:cNvPr id="6" name="Picture 5" descr="permutation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12064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DÉMO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Démonstration : le dashboard décisionnel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Jauge de risque claire + verdict (faible / modéré / élevé).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Signaux du profil lus en un coup d'œil.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Simulation d'une action de rétention (impact sur le risque).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Le dashboard consomme l'API (architecture réaliste).</a:t>
            </a:r>
          </a:p>
        </p:txBody>
      </p:sp>
      <p:pic>
        <p:nvPicPr>
          <p:cNvPr id="6" name="Picture 5" descr="dashboard_sco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120640" cy="37586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Une solution industrialisée et reproductible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API REST (FastAPI) : /predict, /health, /model-info — validation + gestion d'erreurs.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Dashboard (Streamlit) qui consomme l'API : architecture Front → API → Modèle.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Pipeline de préprocessing sérialisé avec le modèle (cohérence train/prod).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Reproductibilité : Makefile, requirements, tests pytest, dépôt Git versionné.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RECUL CRITIQUE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Limites et recommandations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Calibri"/>
              </a:defRPr>
            </a:pPr>
            <a:r>
              <a:t>•  Limites</a:t>
            </a:r>
          </a:p>
          <a:p>
            <a:pPr>
              <a:spcAft>
                <a:spcPts val="1000"/>
              </a:spcAft>
              <a:defRPr sz="1400" b="0">
                <a:solidFill>
                  <a:srgbClr val="1A2233"/>
                </a:solidFill>
                <a:latin typeface="Calibri"/>
              </a:defRPr>
            </a:pPr>
            <a:r>
              <a:t>    – Pouvoir prédictif modéré (données synthétiques) ; précision 24 % au seuil retenu ; dérive temporelle.</a:t>
            </a:r>
          </a:p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Calibri"/>
              </a:defRPr>
            </a:pPr>
            <a:r>
              <a:t>•  Recommandations métier</a:t>
            </a:r>
          </a:p>
          <a:p>
            <a:pPr>
              <a:spcAft>
                <a:spcPts val="1000"/>
              </a:spcAft>
              <a:defRPr sz="1400" b="0">
                <a:solidFill>
                  <a:srgbClr val="1A2233"/>
                </a:solidFill>
                <a:latin typeface="Calibri"/>
              </a:defRPr>
            </a:pPr>
            <a:r>
              <a:t>    – Cibler les clients à ≥ 2 paiements ratés ; surveiller la satisfaction (CSAT/NPS) ; sécuriser les clients récents.</a:t>
            </a:r>
          </a:p>
          <a:p>
            <a:pPr>
              <a:spcAft>
                <a:spcPts val="1000"/>
              </a:spcAft>
              <a:defRPr sz="1600" b="1">
                <a:solidFill>
                  <a:srgbClr val="4F46E5"/>
                </a:solidFill>
                <a:latin typeface="Calibri"/>
              </a:defRPr>
            </a:pPr>
            <a:r>
              <a:t>•  Recommandations techniques</a:t>
            </a:r>
          </a:p>
          <a:p>
            <a:pPr>
              <a:spcAft>
                <a:spcPts val="1000"/>
              </a:spcAft>
              <a:defRPr sz="1400" b="0">
                <a:solidFill>
                  <a:srgbClr val="1A2233"/>
                </a:solidFill>
                <a:latin typeface="Calibri"/>
              </a:defRPr>
            </a:pPr>
            <a:r>
              <a:t>    – Feature engineering ; suivi de dérive et réentraînement périodique.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SYNTHÈSE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233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50408" y="1481328"/>
            <a:ext cx="109728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D'un dataset brut à une solution complète : explicable, industrialisée, exploitable.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Deux enseignements clés :</a:t>
            </a:r>
          </a:p>
          <a:p>
            <a:pPr>
              <a:spcAft>
                <a:spcPts val="1000"/>
              </a:spcAft>
              <a:defRPr sz="1600" b="0">
                <a:solidFill>
                  <a:srgbClr val="1A2233"/>
                </a:solidFill>
                <a:latin typeface="Calibri"/>
              </a:defRPr>
            </a:pPr>
            <a:r>
              <a:t>    – Sur données tabulaires, un modèle simple (Random Forest) surpasse le Deep Learning.</a:t>
            </a:r>
          </a:p>
          <a:p>
            <a:pPr>
              <a:spcAft>
                <a:spcPts val="1000"/>
              </a:spcAft>
              <a:defRPr sz="1600" b="0">
                <a:solidFill>
                  <a:srgbClr val="1A2233"/>
                </a:solidFill>
                <a:latin typeface="Calibri"/>
              </a:defRPr>
            </a:pPr>
            <a:r>
              <a:t>    – En contexte déséquilibré, le réglage du seuil est aussi déterminant que le modèle.</a:t>
            </a:r>
          </a:p>
          <a:p>
            <a:pPr>
              <a:spcAft>
                <a:spcPts val="1000"/>
              </a:spcAft>
              <a:defRPr sz="1800" b="0">
                <a:solidFill>
                  <a:srgbClr val="1A2233"/>
                </a:solidFill>
                <a:latin typeface="Calibri"/>
              </a:defRPr>
            </a:pPr>
            <a:r>
              <a:t>•  Merci — 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B7385"/>
                </a:solidFill>
                <a:latin typeface="Calibri"/>
              </a:defRPr>
            </a:pPr>
            <a:r>
              <a:t>Prédiction du churn · Sujet 2 · EFREI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B738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